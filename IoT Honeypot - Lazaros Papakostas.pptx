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6" r:id="rId10"/>
    <p:sldId id="265" r:id="rId11"/>
  </p:sldIdLst>
  <p:sldSz cx="9144000" cy="5143500" type="screen16x9"/>
  <p:notesSz cx="6858000" cy="9144000"/>
  <p:embeddedFontLst>
    <p:embeddedFont>
      <p:font typeface="Lexend Deca" panose="020B0604020202020204" charset="0"/>
      <p:regular r:id="rId13"/>
      <p:bold r:id="rId1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51bbc29049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51bbc29049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51bbc29049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51bbc29049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51bbc29049_0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51bbc29049_0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51bbc29049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51bbc29049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51bbc29049_0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51bbc29049_0_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51bbc29049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51bbc29049_0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51bbc29049_0_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51bbc29049_0_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-25"/>
            <a:ext cx="9143957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685800" y="1991825"/>
            <a:ext cx="4539000" cy="1159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itle">
  <p:cSld name="TITLE_1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3"/>
          <p:cNvSpPr txBox="1">
            <a:spLocks noGrp="1"/>
          </p:cNvSpPr>
          <p:nvPr>
            <p:ph type="ctrTitle"/>
          </p:nvPr>
        </p:nvSpPr>
        <p:spPr>
          <a:xfrm>
            <a:off x="685800" y="1659550"/>
            <a:ext cx="4263900" cy="1159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ubTitle" idx="1"/>
          </p:nvPr>
        </p:nvSpPr>
        <p:spPr>
          <a:xfrm>
            <a:off x="685800" y="2916254"/>
            <a:ext cx="4263900" cy="78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TITLE_1_1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oogle Shape;1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4"/>
          <p:cNvSpPr/>
          <p:nvPr/>
        </p:nvSpPr>
        <p:spPr>
          <a:xfrm>
            <a:off x="42525" y="42525"/>
            <a:ext cx="2000100" cy="2000100"/>
          </a:xfrm>
          <a:prstGeom prst="ellipse">
            <a:avLst/>
          </a:prstGeom>
          <a:gradFill>
            <a:gsLst>
              <a:gs pos="0">
                <a:srgbClr val="00FFFF">
                  <a:alpha val="54117"/>
                </a:srgbClr>
              </a:gs>
              <a:gs pos="73000">
                <a:srgbClr val="00FFFF">
                  <a:alpha val="0"/>
                </a:srgbClr>
              </a:gs>
              <a:gs pos="100000">
                <a:srgbClr val="00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body" idx="1"/>
          </p:nvPr>
        </p:nvSpPr>
        <p:spPr>
          <a:xfrm>
            <a:off x="1343850" y="866400"/>
            <a:ext cx="4185600" cy="369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419100" rtl="0">
              <a:spcBef>
                <a:spcPts val="600"/>
              </a:spcBef>
              <a:spcAft>
                <a:spcPts val="0"/>
              </a:spcAft>
              <a:buSzPts val="3000"/>
              <a:buFont typeface="Lexend Deca"/>
              <a:buChar char="⬡"/>
              <a:defRPr sz="3000">
                <a:latin typeface="Lexend Deca"/>
                <a:ea typeface="Lexend Deca"/>
                <a:cs typeface="Lexend Deca"/>
                <a:sym typeface="Lexend Deca"/>
              </a:defRPr>
            </a:lvl1pPr>
            <a:lvl2pPr marL="914400" lvl="1" indent="-419100" rtl="0">
              <a:spcBef>
                <a:spcPts val="0"/>
              </a:spcBef>
              <a:spcAft>
                <a:spcPts val="0"/>
              </a:spcAft>
              <a:buSzPts val="3000"/>
              <a:buFont typeface="Lexend Deca"/>
              <a:buChar char="∙"/>
              <a:defRPr sz="3000">
                <a:latin typeface="Lexend Deca"/>
                <a:ea typeface="Lexend Deca"/>
                <a:cs typeface="Lexend Deca"/>
                <a:sym typeface="Lexend Deca"/>
              </a:defRPr>
            </a:lvl2pPr>
            <a:lvl3pPr marL="1371600" lvl="2" indent="-419100" rtl="0">
              <a:spcBef>
                <a:spcPts val="0"/>
              </a:spcBef>
              <a:spcAft>
                <a:spcPts val="0"/>
              </a:spcAft>
              <a:buSzPts val="3000"/>
              <a:buFont typeface="Lexend Deca"/>
              <a:buChar char="∙"/>
              <a:defRPr sz="3000">
                <a:latin typeface="Lexend Deca"/>
                <a:ea typeface="Lexend Deca"/>
                <a:cs typeface="Lexend Deca"/>
                <a:sym typeface="Lexend Deca"/>
              </a:defRPr>
            </a:lvl3pPr>
            <a:lvl4pPr marL="1828800" lvl="3" indent="-419100" rtl="0">
              <a:spcBef>
                <a:spcPts val="0"/>
              </a:spcBef>
              <a:spcAft>
                <a:spcPts val="0"/>
              </a:spcAft>
              <a:buSzPts val="3000"/>
              <a:buFont typeface="Lexend Deca"/>
              <a:buChar char="●"/>
              <a:defRPr sz="3000">
                <a:latin typeface="Lexend Deca"/>
                <a:ea typeface="Lexend Deca"/>
                <a:cs typeface="Lexend Deca"/>
                <a:sym typeface="Lexend Deca"/>
              </a:defRPr>
            </a:lvl4pPr>
            <a:lvl5pPr marL="2286000" lvl="4" indent="-419100" rtl="0">
              <a:spcBef>
                <a:spcPts val="0"/>
              </a:spcBef>
              <a:spcAft>
                <a:spcPts val="0"/>
              </a:spcAft>
              <a:buSzPts val="3000"/>
              <a:buFont typeface="Lexend Deca"/>
              <a:buChar char="○"/>
              <a:defRPr sz="3000">
                <a:latin typeface="Lexend Deca"/>
                <a:ea typeface="Lexend Deca"/>
                <a:cs typeface="Lexend Deca"/>
                <a:sym typeface="Lexend Deca"/>
              </a:defRPr>
            </a:lvl5pPr>
            <a:lvl6pPr marL="2743200" lvl="5" indent="-419100" rtl="0">
              <a:spcBef>
                <a:spcPts val="0"/>
              </a:spcBef>
              <a:spcAft>
                <a:spcPts val="0"/>
              </a:spcAft>
              <a:buSzPts val="3000"/>
              <a:buFont typeface="Lexend Deca"/>
              <a:buChar char="■"/>
              <a:defRPr sz="3000">
                <a:latin typeface="Lexend Deca"/>
                <a:ea typeface="Lexend Deca"/>
                <a:cs typeface="Lexend Deca"/>
                <a:sym typeface="Lexend Deca"/>
              </a:defRPr>
            </a:lvl6pPr>
            <a:lvl7pPr marL="3200400" lvl="6" indent="-419100" rtl="0">
              <a:spcBef>
                <a:spcPts val="0"/>
              </a:spcBef>
              <a:spcAft>
                <a:spcPts val="0"/>
              </a:spcAft>
              <a:buSzPts val="3000"/>
              <a:buFont typeface="Lexend Deca"/>
              <a:buChar char="●"/>
              <a:defRPr sz="3000">
                <a:latin typeface="Lexend Deca"/>
                <a:ea typeface="Lexend Deca"/>
                <a:cs typeface="Lexend Deca"/>
                <a:sym typeface="Lexend Deca"/>
              </a:defRPr>
            </a:lvl7pPr>
            <a:lvl8pPr marL="3657600" lvl="7" indent="-419100" rtl="0">
              <a:spcBef>
                <a:spcPts val="0"/>
              </a:spcBef>
              <a:spcAft>
                <a:spcPts val="0"/>
              </a:spcAft>
              <a:buSzPts val="3000"/>
              <a:buFont typeface="Lexend Deca"/>
              <a:buChar char="○"/>
              <a:defRPr sz="3000">
                <a:latin typeface="Lexend Deca"/>
                <a:ea typeface="Lexend Deca"/>
                <a:cs typeface="Lexend Deca"/>
                <a:sym typeface="Lexend Deca"/>
              </a:defRPr>
            </a:lvl8pPr>
            <a:lvl9pPr marL="4114800" lvl="8" indent="-419100">
              <a:spcBef>
                <a:spcPts val="0"/>
              </a:spcBef>
              <a:spcAft>
                <a:spcPts val="0"/>
              </a:spcAft>
              <a:buSzPts val="3000"/>
              <a:buFont typeface="Lexend Deca"/>
              <a:buChar char="■"/>
              <a:defRPr sz="3000"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>
            <a:endParaRPr/>
          </a:p>
        </p:txBody>
      </p:sp>
      <p:sp>
        <p:nvSpPr>
          <p:cNvPr id="20" name="Google Shape;20;p4"/>
          <p:cNvSpPr txBox="1"/>
          <p:nvPr/>
        </p:nvSpPr>
        <p:spPr>
          <a:xfrm>
            <a:off x="826414" y="656117"/>
            <a:ext cx="613800" cy="65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rPr>
              <a:t>“</a:t>
            </a:r>
            <a:endParaRPr sz="7200">
              <a:solidFill>
                <a:schemeClr val="lt1"/>
              </a:solidFill>
              <a:latin typeface="Muli"/>
              <a:ea typeface="Muli"/>
              <a:cs typeface="Muli"/>
              <a:sym typeface="Muli"/>
            </a:endParaRPr>
          </a:p>
        </p:txBody>
      </p:sp>
      <p:sp>
        <p:nvSpPr>
          <p:cNvPr id="21" name="Google Shape;21;p4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_AND_BODY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oogle Shape;23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580550" y="205975"/>
            <a:ext cx="6014400" cy="857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1"/>
          </p:nvPr>
        </p:nvSpPr>
        <p:spPr>
          <a:xfrm>
            <a:off x="580550" y="1352550"/>
            <a:ext cx="6014400" cy="3161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81000">
              <a:spcBef>
                <a:spcPts val="600"/>
              </a:spcBef>
              <a:spcAft>
                <a:spcPts val="0"/>
              </a:spcAft>
              <a:buSzPts val="2400"/>
              <a:buChar char="⬡"/>
              <a:defRPr/>
            </a:lvl1pPr>
            <a:lvl2pPr marL="914400" lvl="1" indent="-381000">
              <a:spcBef>
                <a:spcPts val="0"/>
              </a:spcBef>
              <a:spcAft>
                <a:spcPts val="0"/>
              </a:spcAft>
              <a:buSzPts val="2400"/>
              <a:buChar char="∙"/>
              <a:defRPr/>
            </a:lvl2pPr>
            <a:lvl3pPr marL="1371600" lvl="2" indent="-381000">
              <a:spcBef>
                <a:spcPts val="0"/>
              </a:spcBef>
              <a:spcAft>
                <a:spcPts val="0"/>
              </a:spcAft>
              <a:buSzPts val="2400"/>
              <a:buChar char="∙"/>
              <a:defRPr/>
            </a:lvl3pPr>
            <a:lvl4pPr marL="1828800" lvl="3" indent="-3810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4pPr>
            <a:lvl5pPr marL="2286000" lvl="4" indent="-38100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5pPr>
            <a:lvl6pPr marL="2743200" lvl="5" indent="-38100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6pPr>
            <a:lvl7pPr marL="3200400" lvl="6" indent="-3810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7pPr>
            <a:lvl8pPr marL="3657600" lvl="7" indent="-38100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8pPr>
            <a:lvl9pPr marL="4114800" lvl="8" indent="-38100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_AND_TWO_COLUMNS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28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6"/>
          <p:cNvSpPr txBox="1">
            <a:spLocks noGrp="1"/>
          </p:cNvSpPr>
          <p:nvPr>
            <p:ph type="title"/>
          </p:nvPr>
        </p:nvSpPr>
        <p:spPr>
          <a:xfrm>
            <a:off x="580550" y="205975"/>
            <a:ext cx="6014400" cy="857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6"/>
          <p:cNvSpPr txBox="1">
            <a:spLocks noGrp="1"/>
          </p:cNvSpPr>
          <p:nvPr>
            <p:ph type="body" idx="1"/>
          </p:nvPr>
        </p:nvSpPr>
        <p:spPr>
          <a:xfrm>
            <a:off x="580550" y="1352550"/>
            <a:ext cx="2841000" cy="3155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55600">
              <a:spcBef>
                <a:spcPts val="600"/>
              </a:spcBef>
              <a:spcAft>
                <a:spcPts val="0"/>
              </a:spcAft>
              <a:buSzPts val="2000"/>
              <a:buChar char="⬡"/>
              <a:defRPr sz="2000"/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SzPts val="2000"/>
              <a:buChar char="∙"/>
              <a:defRPr sz="2000"/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SzPts val="2000"/>
              <a:buChar char="∙"/>
              <a:defRPr sz="2000"/>
            </a:lvl3pPr>
            <a:lvl4pPr marL="1828800" lvl="3" indent="-35560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body" idx="2"/>
          </p:nvPr>
        </p:nvSpPr>
        <p:spPr>
          <a:xfrm>
            <a:off x="3753943" y="1352550"/>
            <a:ext cx="2841000" cy="3155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55600">
              <a:spcBef>
                <a:spcPts val="600"/>
              </a:spcBef>
              <a:spcAft>
                <a:spcPts val="0"/>
              </a:spcAft>
              <a:buSzPts val="2000"/>
              <a:buChar char="⬡"/>
              <a:defRPr sz="2000"/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SzPts val="2000"/>
              <a:buChar char="∙"/>
              <a:defRPr sz="2000"/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SzPts val="2000"/>
              <a:buChar char="∙"/>
              <a:defRPr sz="2000"/>
            </a:lvl3pPr>
            <a:lvl4pPr marL="1828800" lvl="3" indent="-35560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3 columns">
  <p:cSld name="TITLE_AND_TWO_COLUMNS_1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7"/>
          <p:cNvSpPr txBox="1">
            <a:spLocks noGrp="1"/>
          </p:cNvSpPr>
          <p:nvPr>
            <p:ph type="title"/>
          </p:nvPr>
        </p:nvSpPr>
        <p:spPr>
          <a:xfrm>
            <a:off x="580550" y="205975"/>
            <a:ext cx="6405600" cy="857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7"/>
          <p:cNvSpPr txBox="1">
            <a:spLocks noGrp="1"/>
          </p:cNvSpPr>
          <p:nvPr>
            <p:ph type="body" idx="1"/>
          </p:nvPr>
        </p:nvSpPr>
        <p:spPr>
          <a:xfrm>
            <a:off x="580550" y="1352550"/>
            <a:ext cx="2005800" cy="3202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30200" rtl="0">
              <a:spcBef>
                <a:spcPts val="600"/>
              </a:spcBef>
              <a:spcAft>
                <a:spcPts val="0"/>
              </a:spcAft>
              <a:buSzPts val="1600"/>
              <a:buChar char="⬡"/>
              <a:defRPr sz="1600"/>
            </a:lvl1pPr>
            <a:lvl2pPr marL="914400" lvl="1" indent="-330200" rtl="0">
              <a:spcBef>
                <a:spcPts val="0"/>
              </a:spcBef>
              <a:spcAft>
                <a:spcPts val="0"/>
              </a:spcAft>
              <a:buSzPts val="1600"/>
              <a:buChar char="∙"/>
              <a:defRPr sz="1600"/>
            </a:lvl2pPr>
            <a:lvl3pPr marL="1371600" lvl="2" indent="-330200" rtl="0">
              <a:spcBef>
                <a:spcPts val="0"/>
              </a:spcBef>
              <a:spcAft>
                <a:spcPts val="0"/>
              </a:spcAft>
              <a:buSzPts val="1600"/>
              <a:buChar char="∙"/>
              <a:defRPr sz="1600"/>
            </a:lvl3pPr>
            <a:lvl4pPr marL="1828800" lvl="3" indent="-330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37" name="Google Shape;37;p7"/>
          <p:cNvSpPr txBox="1">
            <a:spLocks noGrp="1"/>
          </p:cNvSpPr>
          <p:nvPr>
            <p:ph type="body" idx="2"/>
          </p:nvPr>
        </p:nvSpPr>
        <p:spPr>
          <a:xfrm>
            <a:off x="2780447" y="1352550"/>
            <a:ext cx="2005800" cy="3202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30200" rtl="0">
              <a:spcBef>
                <a:spcPts val="600"/>
              </a:spcBef>
              <a:spcAft>
                <a:spcPts val="0"/>
              </a:spcAft>
              <a:buSzPts val="1600"/>
              <a:buChar char="⬡"/>
              <a:defRPr sz="1600"/>
            </a:lvl1pPr>
            <a:lvl2pPr marL="914400" lvl="1" indent="-330200" rtl="0">
              <a:spcBef>
                <a:spcPts val="0"/>
              </a:spcBef>
              <a:spcAft>
                <a:spcPts val="0"/>
              </a:spcAft>
              <a:buSzPts val="1600"/>
              <a:buChar char="∙"/>
              <a:defRPr sz="1600"/>
            </a:lvl2pPr>
            <a:lvl3pPr marL="1371600" lvl="2" indent="-330200" rtl="0">
              <a:spcBef>
                <a:spcPts val="0"/>
              </a:spcBef>
              <a:spcAft>
                <a:spcPts val="0"/>
              </a:spcAft>
              <a:buSzPts val="1600"/>
              <a:buChar char="∙"/>
              <a:defRPr sz="1600"/>
            </a:lvl3pPr>
            <a:lvl4pPr marL="1828800" lvl="3" indent="-330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body" idx="3"/>
          </p:nvPr>
        </p:nvSpPr>
        <p:spPr>
          <a:xfrm>
            <a:off x="4980344" y="1352550"/>
            <a:ext cx="2005800" cy="3202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30200" rtl="0">
              <a:spcBef>
                <a:spcPts val="600"/>
              </a:spcBef>
              <a:spcAft>
                <a:spcPts val="0"/>
              </a:spcAft>
              <a:buSzPts val="1600"/>
              <a:buChar char="⬡"/>
              <a:defRPr sz="1600"/>
            </a:lvl1pPr>
            <a:lvl2pPr marL="914400" lvl="1" indent="-330200" rtl="0">
              <a:spcBef>
                <a:spcPts val="0"/>
              </a:spcBef>
              <a:spcAft>
                <a:spcPts val="0"/>
              </a:spcAft>
              <a:buSzPts val="1600"/>
              <a:buChar char="∙"/>
              <a:defRPr sz="1600"/>
            </a:lvl2pPr>
            <a:lvl3pPr marL="1371600" lvl="2" indent="-330200" rtl="0">
              <a:spcBef>
                <a:spcPts val="0"/>
              </a:spcBef>
              <a:spcAft>
                <a:spcPts val="0"/>
              </a:spcAft>
              <a:buSzPts val="1600"/>
              <a:buChar char="∙"/>
              <a:defRPr sz="1600"/>
            </a:lvl3pPr>
            <a:lvl4pPr marL="1828800" lvl="3" indent="-330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oogle Shape;41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8"/>
          <p:cNvSpPr txBox="1">
            <a:spLocks noGrp="1"/>
          </p:cNvSpPr>
          <p:nvPr>
            <p:ph type="title"/>
          </p:nvPr>
        </p:nvSpPr>
        <p:spPr>
          <a:xfrm>
            <a:off x="580550" y="205975"/>
            <a:ext cx="6014400" cy="857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8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9"/>
          <p:cNvSpPr txBox="1">
            <a:spLocks noGrp="1"/>
          </p:cNvSpPr>
          <p:nvPr>
            <p:ph type="body" idx="1"/>
          </p:nvPr>
        </p:nvSpPr>
        <p:spPr>
          <a:xfrm>
            <a:off x="580550" y="4406300"/>
            <a:ext cx="6135900" cy="51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>
              <a:spcBef>
                <a:spcPts val="360"/>
              </a:spcBef>
              <a:spcAft>
                <a:spcPts val="0"/>
              </a:spcAft>
              <a:buSzPts val="1400"/>
              <a:buNone/>
              <a:defRPr sz="1400"/>
            </a:lvl1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· Small circuit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Google Shape;49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10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· Big circuit">
  <p:cSld name="BLANK_1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Google Shape;52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11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_1_1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2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gradFill>
          <a:gsLst>
            <a:gs pos="0">
              <a:srgbClr val="A458FF"/>
            </a:gs>
            <a:gs pos="39000">
              <a:srgbClr val="3544FF"/>
            </a:gs>
            <a:gs pos="100000">
              <a:srgbClr val="0A2F9E"/>
            </a:gs>
          </a:gsLst>
          <a:lin ang="8100019" scaled="0"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80550" y="205975"/>
            <a:ext cx="6014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exend Deca"/>
              <a:buNone/>
              <a:defRPr sz="3200" b="1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exend Deca"/>
              <a:buNone/>
              <a:defRPr sz="3200" b="1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exend Deca"/>
              <a:buNone/>
              <a:defRPr sz="3200" b="1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exend Deca"/>
              <a:buNone/>
              <a:defRPr sz="3200" b="1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exend Deca"/>
              <a:buNone/>
              <a:defRPr sz="3200" b="1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exend Deca"/>
              <a:buNone/>
              <a:defRPr sz="3200" b="1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exend Deca"/>
              <a:buNone/>
              <a:defRPr sz="3200" b="1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exend Deca"/>
              <a:buNone/>
              <a:defRPr sz="3200" b="1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exend Deca"/>
              <a:buNone/>
              <a:defRPr sz="3200" b="1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580550" y="1352550"/>
            <a:ext cx="6014400" cy="3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Muli"/>
              <a:buChar char="⬡"/>
              <a:defRPr sz="2400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1pPr>
            <a:lvl2pPr marL="914400" lvl="1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Muli"/>
              <a:buChar char="∙"/>
              <a:defRPr sz="2400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2pPr>
            <a:lvl3pPr marL="1371600" lvl="2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Muli"/>
              <a:buChar char="∙"/>
              <a:defRPr sz="2400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3pPr>
            <a:lvl4pPr marL="1828800" lvl="3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uli"/>
              <a:buChar char="●"/>
              <a:defRPr sz="2400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4pPr>
            <a:lvl5pPr marL="2286000" lvl="4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uli"/>
              <a:buChar char="○"/>
              <a:defRPr sz="2400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5pPr>
            <a:lvl6pPr marL="2743200" lvl="5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uli"/>
              <a:buChar char="■"/>
              <a:defRPr sz="2400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6pPr>
            <a:lvl7pPr marL="3200400" lvl="6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uli"/>
              <a:buChar char="●"/>
              <a:defRPr sz="2400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7pPr>
            <a:lvl8pPr marL="3657600" lvl="7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uli"/>
              <a:buChar char="○"/>
              <a:defRPr sz="2400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8pPr>
            <a:lvl9pPr marL="4114800" lvl="8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uli"/>
              <a:buChar char="■"/>
              <a:defRPr sz="2400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buNone/>
              <a:defRPr sz="13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1pPr>
            <a:lvl2pPr lvl="1" algn="r">
              <a:buNone/>
              <a:defRPr sz="13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 algn="r">
              <a:buNone/>
              <a:defRPr sz="13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 algn="r">
              <a:buNone/>
              <a:defRPr sz="13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 algn="r">
              <a:buNone/>
              <a:defRPr sz="13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 algn="r">
              <a:buNone/>
              <a:defRPr sz="13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 algn="r">
              <a:buNone/>
              <a:defRPr sz="13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 algn="r">
              <a:buNone/>
              <a:defRPr sz="13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 algn="r">
              <a:buNone/>
              <a:defRPr sz="13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13.png"/><Relationship Id="rId4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3"/>
          <p:cNvSpPr txBox="1">
            <a:spLocks noGrp="1"/>
          </p:cNvSpPr>
          <p:nvPr>
            <p:ph type="ctrTitle"/>
          </p:nvPr>
        </p:nvSpPr>
        <p:spPr>
          <a:xfrm>
            <a:off x="450425" y="494650"/>
            <a:ext cx="5067900" cy="2236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IoT Honeypot with Raspberry Pi and DHT11 Sensor</a:t>
            </a:r>
            <a:endParaRPr sz="4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1" name="Google Shape;61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94475" y="1050906"/>
            <a:ext cx="1782850" cy="2031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20814" y="378324"/>
            <a:ext cx="662500" cy="726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593770" y="884611"/>
            <a:ext cx="482075" cy="525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1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621692" y="4034576"/>
            <a:ext cx="586165" cy="686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404399" y="3624439"/>
            <a:ext cx="321850" cy="448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664593" y="3757882"/>
            <a:ext cx="321850" cy="448425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3"/>
          <p:cNvSpPr txBox="1"/>
          <p:nvPr/>
        </p:nvSpPr>
        <p:spPr>
          <a:xfrm>
            <a:off x="450425" y="3152900"/>
            <a:ext cx="3363600" cy="172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" sz="1500" dirty="0">
                <a:solidFill>
                  <a:schemeClr val="lt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Lazaros Papakostas</a:t>
            </a:r>
          </a:p>
          <a:p>
            <a:pPr marL="171450" lvl="0" indent="-17145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" sz="1500" dirty="0">
                <a:solidFill>
                  <a:schemeClr val="lt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International Hellenic University</a:t>
            </a:r>
          </a:p>
          <a:p>
            <a:pPr marL="171450" lvl="0" indent="-17145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" sz="1500" dirty="0">
                <a:solidFill>
                  <a:schemeClr val="lt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Course: Internet of Things</a:t>
            </a:r>
          </a:p>
          <a:p>
            <a:pPr marL="171450" lvl="0" indent="-17145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" sz="1500" dirty="0">
                <a:solidFill>
                  <a:schemeClr val="lt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Professor: Dr. Stavrinides</a:t>
            </a:r>
            <a:endParaRPr sz="1500" dirty="0">
              <a:solidFill>
                <a:schemeClr val="lt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700" dirty="0">
              <a:solidFill>
                <a:schemeClr val="lt1"/>
              </a:solidFill>
              <a:latin typeface="Muli"/>
              <a:ea typeface="Muli"/>
              <a:cs typeface="Muli"/>
              <a:sym typeface="Mul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4"/>
          <p:cNvSpPr txBox="1">
            <a:spLocks noGrp="1"/>
          </p:cNvSpPr>
          <p:nvPr>
            <p:ph type="title"/>
          </p:nvPr>
        </p:nvSpPr>
        <p:spPr>
          <a:xfrm>
            <a:off x="580550" y="205975"/>
            <a:ext cx="6014400" cy="857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Table of Contents</a:t>
            </a:r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3" name="Google Shape;73;p14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  <p:sp>
        <p:nvSpPr>
          <p:cNvPr id="74" name="Google Shape;74;p14"/>
          <p:cNvSpPr txBox="1"/>
          <p:nvPr/>
        </p:nvSpPr>
        <p:spPr>
          <a:xfrm>
            <a:off x="617500" y="1227750"/>
            <a:ext cx="6169876" cy="3641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048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Char char="•"/>
            </a:pPr>
            <a:r>
              <a:rPr lang="en" sz="1800" dirty="0">
                <a:solidFill>
                  <a:schemeClr val="lt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Project Overview</a:t>
            </a:r>
          </a:p>
          <a:p>
            <a:pPr marL="457200" lvl="0" indent="-3048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Char char="•"/>
            </a:pPr>
            <a:r>
              <a:rPr lang="en" sz="1800" dirty="0">
                <a:solidFill>
                  <a:schemeClr val="lt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Hardware Setup</a:t>
            </a:r>
          </a:p>
          <a:p>
            <a:pPr marL="457200" lvl="0" indent="-3048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Char char="•"/>
            </a:pPr>
            <a:r>
              <a:rPr lang="en" sz="1800" dirty="0">
                <a:solidFill>
                  <a:schemeClr val="lt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Software Components</a:t>
            </a:r>
          </a:p>
          <a:p>
            <a:pPr marL="457200" lvl="0" indent="-3048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Char char="•"/>
            </a:pPr>
            <a:r>
              <a:rPr lang="en" sz="1800" dirty="0">
                <a:solidFill>
                  <a:schemeClr val="lt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Core Functionality</a:t>
            </a:r>
          </a:p>
          <a:p>
            <a:pPr marL="457200" lvl="0" indent="-3048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Char char="•"/>
            </a:pPr>
            <a:r>
              <a:rPr lang="en" sz="1800" dirty="0">
                <a:solidFill>
                  <a:schemeClr val="lt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Honeypot Mechanism</a:t>
            </a:r>
          </a:p>
          <a:p>
            <a:pPr marL="457200" lvl="0" indent="-3048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Char char="•"/>
            </a:pPr>
            <a:r>
              <a:rPr lang="en" sz="1800" dirty="0">
                <a:solidFill>
                  <a:schemeClr val="lt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Telegram Integration</a:t>
            </a:r>
          </a:p>
          <a:p>
            <a:pPr marL="457200" lvl="0" indent="-3048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Char char="•"/>
            </a:pPr>
            <a:r>
              <a:rPr lang="en" sz="1800" dirty="0">
                <a:solidFill>
                  <a:schemeClr val="lt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Challenges Faced</a:t>
            </a:r>
          </a:p>
          <a:p>
            <a:pPr marL="457200" lvl="0" indent="-3048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Char char="•"/>
            </a:pPr>
            <a:r>
              <a:rPr lang="en" sz="1800" dirty="0">
                <a:solidFill>
                  <a:schemeClr val="lt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Video Example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"/>
          <p:cNvSpPr txBox="1">
            <a:spLocks noGrp="1"/>
          </p:cNvSpPr>
          <p:nvPr>
            <p:ph type="title"/>
          </p:nvPr>
        </p:nvSpPr>
        <p:spPr>
          <a:xfrm>
            <a:off x="580550" y="278300"/>
            <a:ext cx="5340300" cy="8259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0" dirty="0">
                <a:latin typeface="Calibri"/>
                <a:ea typeface="Calibri"/>
                <a:cs typeface="Calibri"/>
                <a:sym typeface="Calibri"/>
              </a:rPr>
              <a:t>Project Overview</a:t>
            </a:r>
            <a:endParaRPr dirty="0"/>
          </a:p>
        </p:txBody>
      </p:sp>
      <p:sp>
        <p:nvSpPr>
          <p:cNvPr id="80" name="Google Shape;80;p15"/>
          <p:cNvSpPr txBox="1">
            <a:spLocks noGrp="1"/>
          </p:cNvSpPr>
          <p:nvPr>
            <p:ph type="body" idx="1"/>
          </p:nvPr>
        </p:nvSpPr>
        <p:spPr>
          <a:xfrm>
            <a:off x="580550" y="1364449"/>
            <a:ext cx="3991450" cy="3385401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IoT system on Raspberry Pi using DHT11</a:t>
            </a:r>
          </a:p>
          <a:p>
            <a:pPr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REST API with Flask</a:t>
            </a:r>
          </a:p>
          <a:p>
            <a:pPr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Honeypot for detecting suspicious access</a:t>
            </a:r>
          </a:p>
          <a:p>
            <a:pPr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Telegram for real-time alerts</a:t>
            </a: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180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5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  <p:pic>
        <p:nvPicPr>
          <p:cNvPr id="3" name="Εικόνα 2" descr="Εικόνα που περιέχει σύμβολο, λογότυπο, σχεδίαση">
            <a:extLst>
              <a:ext uri="{FF2B5EF4-FFF2-40B4-BE49-F238E27FC236}">
                <a16:creationId xmlns:a16="http://schemas.microsoft.com/office/drawing/2014/main" id="{E6ADD325-18A4-0929-75B3-3D7C574556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9088" y="1740055"/>
            <a:ext cx="4334107" cy="243793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7"/>
          <p:cNvSpPr txBox="1">
            <a:spLocks noGrp="1"/>
          </p:cNvSpPr>
          <p:nvPr>
            <p:ph type="title"/>
          </p:nvPr>
        </p:nvSpPr>
        <p:spPr>
          <a:xfrm>
            <a:off x="580550" y="278300"/>
            <a:ext cx="5340300" cy="8259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0" dirty="0">
                <a:latin typeface="Calibri"/>
                <a:ea typeface="Calibri"/>
                <a:cs typeface="Calibri"/>
                <a:sym typeface="Calibri"/>
              </a:rPr>
              <a:t>Hardware Setup</a:t>
            </a:r>
            <a:endParaRPr dirty="0"/>
          </a:p>
        </p:txBody>
      </p:sp>
      <p:sp>
        <p:nvSpPr>
          <p:cNvPr id="95" name="Google Shape;95;p17"/>
          <p:cNvSpPr txBox="1">
            <a:spLocks noGrp="1"/>
          </p:cNvSpPr>
          <p:nvPr>
            <p:ph type="body" idx="1"/>
          </p:nvPr>
        </p:nvSpPr>
        <p:spPr>
          <a:xfrm>
            <a:off x="580550" y="1364450"/>
            <a:ext cx="5936100" cy="3263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Raspberry Pi 4 Model B</a:t>
            </a:r>
          </a:p>
          <a:p>
            <a:pPr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DHT11 sensor</a:t>
            </a:r>
          </a:p>
          <a:p>
            <a:pPr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Jumper wires </a:t>
            </a:r>
          </a:p>
          <a:p>
            <a:pPr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MicroSD card</a:t>
            </a:r>
          </a:p>
          <a:p>
            <a:pPr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Power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supply</a:t>
            </a:r>
          </a:p>
          <a:p>
            <a:endParaRPr lang="en-US" sz="2400" dirty="0"/>
          </a:p>
        </p:txBody>
      </p:sp>
      <p:sp>
        <p:nvSpPr>
          <p:cNvPr id="96" name="Google Shape;96;p17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  <p:pic>
        <p:nvPicPr>
          <p:cNvPr id="3" name="Εικόνα 2" descr="Εικόνα που περιέχει ηλεκτρονικές συσκευές, ηλεκτρονικός μηχανικός, καλώδιο, ηλεκτρική καλωδίωση&#10;&#10;Το περιεχόμενο που δημιουργείται από τεχνολογία AI ενδέχεται να είναι εσφαλμένο.">
            <a:extLst>
              <a:ext uri="{FF2B5EF4-FFF2-40B4-BE49-F238E27FC236}">
                <a16:creationId xmlns:a16="http://schemas.microsoft.com/office/drawing/2014/main" id="{B19141E3-B77B-C4A6-DDF0-1CACE8AC500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836"/>
          <a:stretch/>
        </p:blipFill>
        <p:spPr>
          <a:xfrm>
            <a:off x="5470207" y="609600"/>
            <a:ext cx="3163253" cy="414025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8"/>
          <p:cNvSpPr txBox="1">
            <a:spLocks noGrp="1"/>
          </p:cNvSpPr>
          <p:nvPr>
            <p:ph type="title"/>
          </p:nvPr>
        </p:nvSpPr>
        <p:spPr>
          <a:xfrm>
            <a:off x="580550" y="278300"/>
            <a:ext cx="5340300" cy="8259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0" dirty="0">
                <a:latin typeface="Calibri"/>
                <a:ea typeface="Calibri"/>
                <a:cs typeface="Calibri"/>
                <a:sym typeface="Calibri"/>
              </a:rPr>
              <a:t>Software Components</a:t>
            </a:r>
            <a:endParaRPr dirty="0"/>
          </a:p>
        </p:txBody>
      </p:sp>
      <p:sp>
        <p:nvSpPr>
          <p:cNvPr id="103" name="Google Shape;103;p18"/>
          <p:cNvSpPr txBox="1">
            <a:spLocks noGrp="1"/>
          </p:cNvSpPr>
          <p:nvPr>
            <p:ph type="body" idx="1"/>
          </p:nvPr>
        </p:nvSpPr>
        <p:spPr>
          <a:xfrm>
            <a:off x="580550" y="1364450"/>
            <a:ext cx="5936100" cy="1308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Python 3</a:t>
            </a:r>
          </a:p>
          <a:p>
            <a:pPr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Flask (web framework)</a:t>
            </a:r>
          </a:p>
          <a:p>
            <a:pPr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Adafruit DHT library</a:t>
            </a:r>
          </a:p>
          <a:p>
            <a:pPr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Requests (Telegram API)</a:t>
            </a:r>
          </a:p>
          <a:p>
            <a:pPr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Telegram bot</a:t>
            </a:r>
          </a:p>
        </p:txBody>
      </p:sp>
      <p:sp>
        <p:nvSpPr>
          <p:cNvPr id="104" name="Google Shape;104;p18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9"/>
          <p:cNvSpPr txBox="1">
            <a:spLocks noGrp="1"/>
          </p:cNvSpPr>
          <p:nvPr>
            <p:ph type="title"/>
          </p:nvPr>
        </p:nvSpPr>
        <p:spPr>
          <a:xfrm>
            <a:off x="580550" y="278300"/>
            <a:ext cx="5340300" cy="8259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0" dirty="0">
                <a:latin typeface="Calibri"/>
                <a:ea typeface="Calibri"/>
                <a:cs typeface="Calibri"/>
                <a:sym typeface="Calibri"/>
              </a:rPr>
              <a:t>Core Functionality</a:t>
            </a:r>
            <a:endParaRPr dirty="0"/>
          </a:p>
        </p:txBody>
      </p:sp>
      <p:sp>
        <p:nvSpPr>
          <p:cNvPr id="111" name="Google Shape;111;p19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  <p:sp>
        <p:nvSpPr>
          <p:cNvPr id="113" name="Google Shape;113;p19"/>
          <p:cNvSpPr txBox="1"/>
          <p:nvPr/>
        </p:nvSpPr>
        <p:spPr>
          <a:xfrm>
            <a:off x="580550" y="1274888"/>
            <a:ext cx="5012700" cy="72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l-GR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</a:t>
            </a:r>
            <a:r>
              <a:rPr lang="el-G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Read sensor data (temperature, humidity)</a:t>
            </a:r>
          </a:p>
          <a:p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Serve JSON over REST API (/sensor/data)</a:t>
            </a:r>
          </a:p>
          <a:p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Log access attempts (IP, path, User-Agent)</a:t>
            </a:r>
          </a:p>
          <a:p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Detect suspicious access (/admin, /config, /hidden)</a:t>
            </a:r>
          </a:p>
          <a:p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Count repeated suspicious IPs</a:t>
            </a:r>
          </a:p>
          <a:p>
            <a:pPr marL="457200" lvl="0" indent="-30480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Calibri"/>
              <a:buChar char="⬡"/>
            </a:pPr>
            <a:endParaRPr lang="en-US" sz="1200" dirty="0">
              <a:solidFill>
                <a:schemeClr val="lt1"/>
              </a:solidFill>
              <a:latin typeface="Muli"/>
              <a:ea typeface="Muli"/>
              <a:cs typeface="Muli"/>
              <a:sym typeface="Mul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0"/>
          <p:cNvSpPr txBox="1">
            <a:spLocks noGrp="1"/>
          </p:cNvSpPr>
          <p:nvPr>
            <p:ph type="title"/>
          </p:nvPr>
        </p:nvSpPr>
        <p:spPr>
          <a:xfrm>
            <a:off x="580550" y="278300"/>
            <a:ext cx="5936100" cy="8259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0" dirty="0">
                <a:latin typeface="Calibri"/>
                <a:ea typeface="Calibri"/>
                <a:cs typeface="Calibri"/>
                <a:sym typeface="Calibri"/>
              </a:rPr>
              <a:t>Honeypot Mechanism</a:t>
            </a:r>
            <a:endParaRPr dirty="0"/>
          </a:p>
        </p:txBody>
      </p:sp>
      <p:sp>
        <p:nvSpPr>
          <p:cNvPr id="119" name="Google Shape;119;p20"/>
          <p:cNvSpPr txBox="1">
            <a:spLocks noGrp="1"/>
          </p:cNvSpPr>
          <p:nvPr>
            <p:ph type="body" idx="1"/>
          </p:nvPr>
        </p:nvSpPr>
        <p:spPr>
          <a:xfrm>
            <a:off x="580550" y="1364450"/>
            <a:ext cx="5936100" cy="3263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7620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Fake admin/config/hidden routes</a:t>
            </a:r>
          </a:p>
          <a:p>
            <a:pPr marL="7620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Log suspicious requests</a:t>
            </a:r>
          </a:p>
          <a:p>
            <a:pPr marL="7620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Terminal alerts</a:t>
            </a:r>
          </a:p>
          <a:p>
            <a:pPr marL="7620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Count per-IP suspicious attempts</a:t>
            </a:r>
          </a:p>
          <a:p>
            <a:pPr marL="7620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•Telegram alerts</a:t>
            </a:r>
          </a:p>
          <a:p>
            <a:pPr marL="0" lvl="0" indent="0" algn="l" rtl="0">
              <a:spcBef>
                <a:spcPts val="700"/>
              </a:spcBef>
              <a:spcAft>
                <a:spcPts val="0"/>
              </a:spcAft>
              <a:buNone/>
            </a:pPr>
            <a:endParaRPr sz="180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20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1"/>
          <p:cNvSpPr txBox="1">
            <a:spLocks noGrp="1"/>
          </p:cNvSpPr>
          <p:nvPr>
            <p:ph type="title"/>
          </p:nvPr>
        </p:nvSpPr>
        <p:spPr>
          <a:xfrm>
            <a:off x="580550" y="278300"/>
            <a:ext cx="5340300" cy="8259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0" dirty="0">
                <a:latin typeface="Calibri"/>
                <a:ea typeface="Calibri"/>
                <a:cs typeface="Calibri"/>
                <a:sym typeface="Calibri"/>
              </a:rPr>
              <a:t>Telegram Integration</a:t>
            </a:r>
            <a:endParaRPr sz="2000" dirty="0"/>
          </a:p>
        </p:txBody>
      </p:sp>
      <p:sp>
        <p:nvSpPr>
          <p:cNvPr id="126" name="Google Shape;126;p21"/>
          <p:cNvSpPr txBox="1">
            <a:spLocks noGrp="1"/>
          </p:cNvSpPr>
          <p:nvPr>
            <p:ph type="body" idx="1"/>
          </p:nvPr>
        </p:nvSpPr>
        <p:spPr>
          <a:xfrm>
            <a:off x="580550" y="1364450"/>
            <a:ext cx="5936100" cy="3263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76200" indent="0">
              <a:buClr>
                <a:schemeClr val="bg1"/>
              </a:buClr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Telegram Bot API</a:t>
            </a:r>
          </a:p>
          <a:p>
            <a:pPr marL="76200" indent="0">
              <a:buClr>
                <a:schemeClr val="bg1"/>
              </a:buClr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Created bot + token</a:t>
            </a:r>
          </a:p>
          <a:p>
            <a:pPr marL="7620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Sent alerts: IP, path, user-agent, count</a:t>
            </a:r>
          </a:p>
          <a:p>
            <a:pPr marL="7620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 marL="7620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⚠️ Honeypot alert!</a:t>
            </a:r>
          </a:p>
          <a:p>
            <a:pPr marL="7620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IP: 192.168.1.5</a:t>
            </a:r>
          </a:p>
          <a:p>
            <a:pPr marL="7620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Path: /hidden</a:t>
            </a:r>
          </a:p>
          <a:p>
            <a:pPr marL="7620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suspicious attempts: 2</a:t>
            </a: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180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21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  <p:pic>
        <p:nvPicPr>
          <p:cNvPr id="3" name="Εικόνα 2" descr="Εικόνα που περιέχει κείμενο, στιγμιότυπο οθόνης, κατάλογος, γραμματοσειρά&#10;&#10;Το περιεχόμενο που δημιουργείται από τεχνολογία AI ενδέχεται να είναι εσφαλμένο.">
            <a:extLst>
              <a:ext uri="{FF2B5EF4-FFF2-40B4-BE49-F238E27FC236}">
                <a16:creationId xmlns:a16="http://schemas.microsoft.com/office/drawing/2014/main" id="{51C4F41C-BD9D-7A9A-939C-5F9558EA01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1721" y="1356174"/>
            <a:ext cx="3002280" cy="378732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852AED9B-6F84-616B-75DC-AAFA1C0C49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Challenges Faced</a:t>
            </a:r>
            <a:endParaRPr lang="el-GR" dirty="0"/>
          </a:p>
        </p:txBody>
      </p:sp>
      <p:sp>
        <p:nvSpPr>
          <p:cNvPr id="3" name="Θέση κειμένου 2">
            <a:extLst>
              <a:ext uri="{FF2B5EF4-FFF2-40B4-BE49-F238E27FC236}">
                <a16:creationId xmlns:a16="http://schemas.microsoft.com/office/drawing/2014/main" id="{BB71FC7D-248D-1B9E-683F-B82EA6D7DA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/>
              <a:t>Little to no </a:t>
            </a:r>
            <a:r>
              <a:rPr lang="en-US" dirty="0"/>
              <a:t>prior experience in Python or IoT</a:t>
            </a:r>
          </a:p>
          <a:p>
            <a:pPr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dirty="0"/>
              <a:t>DHT11 sensor issues</a:t>
            </a:r>
          </a:p>
          <a:p>
            <a:pPr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dirty="0"/>
              <a:t>Running Flask on Raspberry Pi</a:t>
            </a:r>
          </a:p>
          <a:p>
            <a:pPr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dirty="0"/>
              <a:t>REST API integration</a:t>
            </a:r>
            <a:endParaRPr lang="el-GR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780FF51B-15B7-FA78-C1B6-B539F980E42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9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6595703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2"/>
          <p:cNvSpPr txBox="1">
            <a:spLocks noGrp="1"/>
          </p:cNvSpPr>
          <p:nvPr>
            <p:ph type="title"/>
          </p:nvPr>
        </p:nvSpPr>
        <p:spPr>
          <a:xfrm>
            <a:off x="3329940" y="278300"/>
            <a:ext cx="2590910" cy="49894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0" dirty="0">
                <a:latin typeface="Calibri"/>
                <a:ea typeface="Calibri"/>
                <a:cs typeface="Calibri"/>
                <a:sym typeface="Calibri"/>
              </a:rPr>
              <a:t>Video Example</a:t>
            </a:r>
            <a:endParaRPr sz="2000" dirty="0"/>
          </a:p>
        </p:txBody>
      </p:sp>
      <p:sp>
        <p:nvSpPr>
          <p:cNvPr id="134" name="Google Shape;134;p22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  <p:pic>
        <p:nvPicPr>
          <p:cNvPr id="2" name="0504(1)">
            <a:hlinkClick r:id="" action="ppaction://media"/>
            <a:extLst>
              <a:ext uri="{FF2B5EF4-FFF2-40B4-BE49-F238E27FC236}">
                <a16:creationId xmlns:a16="http://schemas.microsoft.com/office/drawing/2014/main" id="{B7DDC07D-B900-714D-9318-5DC11D0D4E8D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b="3993"/>
          <a:stretch>
            <a:fillRect/>
          </a:stretch>
        </p:blipFill>
        <p:spPr>
          <a:xfrm>
            <a:off x="-7434" y="1054670"/>
            <a:ext cx="9144000" cy="408878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7113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Aliena template">
  <a:themeElements>
    <a:clrScheme name="Custom 347">
      <a:dk1>
        <a:srgbClr val="050060"/>
      </a:dk1>
      <a:lt1>
        <a:srgbClr val="FFFFFF"/>
      </a:lt1>
      <a:dk2>
        <a:srgbClr val="585963"/>
      </a:dk2>
      <a:lt2>
        <a:srgbClr val="F3F3F3"/>
      </a:lt2>
      <a:accent1>
        <a:srgbClr val="0A2F9E"/>
      </a:accent1>
      <a:accent2>
        <a:srgbClr val="3544FF"/>
      </a:accent2>
      <a:accent3>
        <a:srgbClr val="24D6FF"/>
      </a:accent3>
      <a:accent4>
        <a:srgbClr val="00FFFF"/>
      </a:accent4>
      <a:accent5>
        <a:srgbClr val="A458FF"/>
      </a:accent5>
      <a:accent6>
        <a:srgbClr val="D392FF"/>
      </a:accent6>
      <a:hlink>
        <a:srgbClr val="FFFFFF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167</TotalTime>
  <Words>260</Words>
  <Application>Microsoft Office PowerPoint</Application>
  <PresentationFormat>Προβολή στην οθόνη (16:9)</PresentationFormat>
  <Paragraphs>67</Paragraphs>
  <Slides>10</Slides>
  <Notes>9</Notes>
  <HiddenSlides>0</HiddenSlides>
  <MMClips>1</MMClips>
  <ScaleCrop>false</ScaleCrop>
  <HeadingPairs>
    <vt:vector size="6" baseType="variant">
      <vt:variant>
        <vt:lpstr>Γραμματοσειρές που χρησιμοποιούνται</vt:lpstr>
      </vt:variant>
      <vt:variant>
        <vt:i4>5</vt:i4>
      </vt:variant>
      <vt:variant>
        <vt:lpstr>Θέμα</vt:lpstr>
      </vt:variant>
      <vt:variant>
        <vt:i4>1</vt:i4>
      </vt:variant>
      <vt:variant>
        <vt:lpstr>Τίτλοι διαφανειών</vt:lpstr>
      </vt:variant>
      <vt:variant>
        <vt:i4>10</vt:i4>
      </vt:variant>
    </vt:vector>
  </HeadingPairs>
  <TitlesOfParts>
    <vt:vector size="16" baseType="lpstr">
      <vt:lpstr>Calibri</vt:lpstr>
      <vt:lpstr>Muli</vt:lpstr>
      <vt:lpstr>Lexend Deca</vt:lpstr>
      <vt:lpstr>Times New Roman</vt:lpstr>
      <vt:lpstr>Arial</vt:lpstr>
      <vt:lpstr>Aliena template</vt:lpstr>
      <vt:lpstr>IoT Honeypot with Raspberry Pi and DHT11 Sensor</vt:lpstr>
      <vt:lpstr>Table of Contents</vt:lpstr>
      <vt:lpstr>Project Overview</vt:lpstr>
      <vt:lpstr>Hardware Setup</vt:lpstr>
      <vt:lpstr>Software Components</vt:lpstr>
      <vt:lpstr>Core Functionality</vt:lpstr>
      <vt:lpstr>Honeypot Mechanism</vt:lpstr>
      <vt:lpstr>Telegram Integration</vt:lpstr>
      <vt:lpstr>Challenges Faced</vt:lpstr>
      <vt:lpstr>Video Example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Lazaros Papakostas</cp:lastModifiedBy>
  <cp:revision>23</cp:revision>
  <dcterms:modified xsi:type="dcterms:W3CDTF">2025-06-08T19:32:26Z</dcterms:modified>
</cp:coreProperties>
</file>